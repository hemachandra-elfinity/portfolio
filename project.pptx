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76" r:id="rId5"/>
    <p:sldId id="277" r:id="rId6"/>
    <p:sldId id="278" r:id="rId7"/>
    <p:sldId id="279" r:id="rId8"/>
    <p:sldId id="262" r:id="rId9"/>
    <p:sldId id="270" r:id="rId10"/>
    <p:sldId id="267" r:id="rId11"/>
    <p:sldId id="289" r:id="rId12"/>
    <p:sldId id="286" r:id="rId13"/>
    <p:sldId id="268" r:id="rId14"/>
    <p:sldId id="291" r:id="rId15"/>
    <p:sldId id="292" r:id="rId16"/>
    <p:sldId id="293" r:id="rId17"/>
    <p:sldId id="290" r:id="rId18"/>
    <p:sldId id="287"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8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B0DA6A-481A-4686-9867-709B7FAED0CE}" v="624" dt="2022-04-17T17:27:48.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63" d="100"/>
          <a:sy n="63" d="100"/>
        </p:scale>
        <p:origin x="7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4E00EE-1827-4739-BF49-DBB2A23CB43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8713217-0196-4182-AF36-4A4744348F0A}" type="pres">
      <dgm:prSet presAssocID="{8E4E00EE-1827-4739-BF49-DBB2A23CB433}" presName="hierChild1" presStyleCnt="0">
        <dgm:presLayoutVars>
          <dgm:chPref val="1"/>
          <dgm:dir/>
          <dgm:animOne val="branch"/>
          <dgm:animLvl val="lvl"/>
          <dgm:resizeHandles/>
        </dgm:presLayoutVars>
      </dgm:prSet>
      <dgm:spPr/>
    </dgm:pt>
  </dgm:ptLst>
  <dgm:cxnLst>
    <dgm:cxn modelId="{21800903-C9AB-46D3-B47B-432EA8636AA6}" type="presOf" srcId="{8E4E00EE-1827-4739-BF49-DBB2A23CB433}" destId="{08713217-0196-4182-AF36-4A4744348F0A}" srcOrd="0"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7/15/2025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1090653" y="2178684"/>
            <a:ext cx="10525760" cy="1895475"/>
          </a:xfrm>
        </p:spPr>
        <p:txBody>
          <a:bodyPr anchor="b">
            <a:noAutofit/>
          </a:bodyPr>
          <a:lstStyle/>
          <a:p>
            <a:pPr marL="63500" marR="0" indent="0" algn="ctr">
              <a:lnSpc>
                <a:spcPct val="150000"/>
              </a:lnSpc>
              <a:spcBef>
                <a:spcPts val="0"/>
              </a:spcBef>
              <a:spcAft>
                <a:spcPts val="0"/>
              </a:spcAft>
            </a:pPr>
            <a:r>
              <a:rPr lang="en-US" sz="2800" b="1" kern="0" dirty="0">
                <a:effectLst/>
                <a:latin typeface="Times New Roman" panose="02020603050405020304" pitchFamily="18" charset="0"/>
                <a:ea typeface="Times New Roman" panose="02020603050405020304" pitchFamily="18" charset="0"/>
              </a:rPr>
              <a:t>“Innovative Solutions for Robust Safety </a:t>
            </a:r>
            <a:r>
              <a:rPr lang="en-US" sz="2800" b="1" kern="0" dirty="0" err="1">
                <a:effectLst/>
                <a:latin typeface="Times New Roman" panose="02020603050405020304" pitchFamily="18" charset="0"/>
                <a:ea typeface="Times New Roman" panose="02020603050405020304" pitchFamily="18" charset="0"/>
              </a:rPr>
              <a:t>Survrillance</a:t>
            </a:r>
            <a:r>
              <a:rPr lang="en-US" sz="2800"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p>
        </p:txBody>
      </p:sp>
      <p:sp>
        <p:nvSpPr>
          <p:cNvPr id="2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616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585861" y="-95672"/>
            <a:ext cx="11018520" cy="1434415"/>
          </a:xfrm>
        </p:spPr>
        <p:txBody>
          <a:bodyPr anchor="b">
            <a:normAutofit/>
          </a:bodyPr>
          <a:lstStyle/>
          <a:p>
            <a:pPr algn="ctr"/>
            <a:r>
              <a:rPr lang="en-US" sz="3400" b="1" dirty="0">
                <a:latin typeface="Times New Roman" panose="02020603050405020304" pitchFamily="18" charset="0"/>
                <a:cs typeface="Times New Roman" panose="02020603050405020304" pitchFamily="18" charset="0"/>
              </a:rPr>
              <a:t>OUTLINE</a:t>
            </a:r>
            <a:endParaRPr lang="en-US" sz="3400" dirty="0">
              <a:latin typeface="Arial Black"/>
              <a:cs typeface="Calibri"/>
            </a:endParaRPr>
          </a:p>
        </p:txBody>
      </p:sp>
      <p:sp>
        <p:nvSpPr>
          <p:cNvPr id="2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TextBox 6">
            <a:extLst>
              <a:ext uri="{FF2B5EF4-FFF2-40B4-BE49-F238E27FC236}">
                <a16:creationId xmlns:a16="http://schemas.microsoft.com/office/drawing/2014/main" id="{AB64596D-1381-88F1-807B-86B56C9C7B33}"/>
              </a:ext>
            </a:extLst>
          </p:cNvPr>
          <p:cNvGraphicFramePr/>
          <p:nvPr>
            <p:extLst>
              <p:ext uri="{D42A27DB-BD31-4B8C-83A1-F6EECF244321}">
                <p14:modId xmlns:p14="http://schemas.microsoft.com/office/powerpoint/2010/main" val="2743426178"/>
              </p:ext>
            </p:extLst>
          </p:nvPr>
        </p:nvGraphicFramePr>
        <p:xfrm>
          <a:off x="309859" y="2144295"/>
          <a:ext cx="7706382" cy="2308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ustomShape 7">
            <a:extLst>
              <a:ext uri="{FF2B5EF4-FFF2-40B4-BE49-F238E27FC236}">
                <a16:creationId xmlns:a16="http://schemas.microsoft.com/office/drawing/2014/main" id="{3D92A9F6-B6E9-4A99-877D-709AC3419F9C}"/>
              </a:ext>
            </a:extLst>
          </p:cNvPr>
          <p:cNvSpPr/>
          <p:nvPr/>
        </p:nvSpPr>
        <p:spPr>
          <a:xfrm>
            <a:off x="0" y="6165752"/>
            <a:ext cx="12192000" cy="673960"/>
          </a:xfrm>
          <a:prstGeom prst="rect">
            <a:avLst/>
          </a:prstGeom>
          <a:solidFill>
            <a:srgbClr val="00B050"/>
          </a:solidFill>
          <a:ln w="9360">
            <a:solidFill>
              <a:srgbClr val="98B855"/>
            </a:solidFill>
            <a:round/>
          </a:ln>
        </p:spPr>
        <p:txBody>
          <a:bodyPr lIns="90000" tIns="45000" rIns="90000" bIns="45000" anchor="ctr"/>
          <a:lstStyle/>
          <a:p>
            <a:pPr algn="ctr">
              <a:lnSpc>
                <a:spcPct val="100000"/>
              </a:lnSpc>
            </a:pPr>
            <a:r>
              <a:rPr lang="en-US" b="1" kern="0">
                <a:latin typeface="Times New Roman" panose="02020603050405020304" pitchFamily="18" charset="0"/>
                <a:ea typeface="Times New Roman" panose="02020603050405020304" pitchFamily="18" charset="0"/>
              </a:rPr>
              <a:t>Innovative Solutions for Robust Safety Survrillance: Deep Learning for Automated Detection of Unanticipated Incidents in Poor CCTV Environments</a:t>
            </a:r>
            <a:endParaRPr lang="en-US" dirty="0">
              <a:solidFill>
                <a:schemeClr val="bg1"/>
              </a:solidFill>
            </a:endParaRPr>
          </a:p>
        </p:txBody>
      </p:sp>
      <p:sp>
        <p:nvSpPr>
          <p:cNvPr id="14" name="TextBox 13">
            <a:extLst>
              <a:ext uri="{FF2B5EF4-FFF2-40B4-BE49-F238E27FC236}">
                <a16:creationId xmlns:a16="http://schemas.microsoft.com/office/drawing/2014/main" id="{EC4E2C60-3DDE-B306-128C-A99DF5F06A94}"/>
              </a:ext>
            </a:extLst>
          </p:cNvPr>
          <p:cNvSpPr txBox="1"/>
          <p:nvPr/>
        </p:nvSpPr>
        <p:spPr>
          <a:xfrm>
            <a:off x="1933912" y="1744185"/>
            <a:ext cx="7174505" cy="5693866"/>
          </a:xfrm>
          <a:prstGeom prst="rect">
            <a:avLst/>
          </a:prstGeom>
          <a:noFill/>
        </p:spPr>
        <p:txBody>
          <a:bodyPr wrap="square" rtlCol="0">
            <a:spAutoFit/>
          </a:bodyPr>
          <a:lstStyle/>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Abstract</a:t>
            </a:r>
          </a:p>
          <a:p>
            <a:pPr marL="342900" indent="-342900">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Introduction</a:t>
            </a:r>
            <a:endParaRPr lang="en-IN" sz="2000" dirty="0">
              <a:latin typeface="Times New Roman" panose="02020603050405020304" pitchFamily="18" charset="0"/>
              <a:cs typeface="Times New Roman" panose="02020603050405020304" pitchFamily="18" charset="0"/>
            </a:endParaRPr>
          </a:p>
          <a:p>
            <a:pPr marL="342900" indent="-342900">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Existing System</a:t>
            </a:r>
          </a:p>
          <a:p>
            <a:pPr marL="342900" indent="-342900">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Limitations of Existing System</a:t>
            </a:r>
          </a:p>
          <a:p>
            <a:pPr marL="342900" indent="-342900">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Proposed System</a:t>
            </a:r>
          </a:p>
          <a:p>
            <a:pPr marL="342900" indent="-342900">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Block Diagram</a:t>
            </a:r>
          </a:p>
          <a:p>
            <a:pPr marL="342900" indent="-342900">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Modules</a:t>
            </a:r>
          </a:p>
          <a:p>
            <a:pPr marL="342900" indent="-342900">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Advantages</a:t>
            </a:r>
            <a:endParaRPr lang="en-IN" sz="2000" dirty="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Results</a:t>
            </a:r>
          </a:p>
          <a:p>
            <a:pPr marL="342900" indent="-342900" algn="just">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Conclusion</a:t>
            </a:r>
          </a:p>
          <a:p>
            <a:pPr marL="342900" indent="-342900" algn="just">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Future Enhancement</a:t>
            </a:r>
          </a:p>
          <a:p>
            <a:pPr marL="342900" indent="-342900" algn="just">
              <a:lnSpc>
                <a:spcPct val="100000"/>
              </a:lnSpc>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Reference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148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b="1" kern="1200" dirty="0">
                <a:latin typeface="Times New Roman" panose="02020603050405020304" pitchFamily="18" charset="0"/>
                <a:cs typeface="Times New Roman" panose="02020603050405020304" pitchFamily="18" charset="0"/>
              </a:rPr>
              <a:t>ABSTRACT</a:t>
            </a:r>
            <a:endParaRPr lang="en-US" sz="3600" b="1" dirty="0">
              <a:latin typeface="Times New Roman" panose="02020603050405020304" pitchFamily="18" charset="0"/>
              <a:cs typeface="Times New Roman" panose="02020603050405020304" pitchFamily="18" charset="0"/>
            </a:endParaRP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dirty="0"/>
          </a:p>
        </p:txBody>
      </p:sp>
      <p:sp>
        <p:nvSpPr>
          <p:cNvPr id="8" name="CustomShape 7">
            <a:extLst>
              <a:ext uri="{FF2B5EF4-FFF2-40B4-BE49-F238E27FC236}">
                <a16:creationId xmlns:a16="http://schemas.microsoft.com/office/drawing/2014/main" id="{4AD08273-B4FB-43B7-BAA1-BA2124D68B91}"/>
              </a:ext>
            </a:extLst>
          </p:cNvPr>
          <p:cNvSpPr/>
          <p:nvPr/>
        </p:nvSpPr>
        <p:spPr>
          <a:xfrm>
            <a:off x="0" y="6299147"/>
            <a:ext cx="12188952" cy="609653"/>
          </a:xfrm>
          <a:prstGeom prst="rect">
            <a:avLst/>
          </a:prstGeom>
          <a:solidFill>
            <a:srgbClr val="00B050"/>
          </a:solidFill>
          <a:ln w="9360">
            <a:solidFill>
              <a:srgbClr val="98B855"/>
            </a:solidFill>
            <a:round/>
          </a:ln>
        </p:spPr>
        <p:txBody>
          <a:bodyPr lIns="90000" tIns="45000" rIns="90000" bIns="45000" anchor="ctr"/>
          <a:lstStyle/>
          <a:p>
            <a:pPr algn="ctr">
              <a:lnSpc>
                <a:spcPct val="100000"/>
              </a:lnSpc>
            </a:pP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
        <p:nvSpPr>
          <p:cNvPr id="5" name="TextBox 4">
            <a:extLst>
              <a:ext uri="{FF2B5EF4-FFF2-40B4-BE49-F238E27FC236}">
                <a16:creationId xmlns:a16="http://schemas.microsoft.com/office/drawing/2014/main" id="{B42C986B-83D3-0150-130E-77E4D59539EA}"/>
              </a:ext>
            </a:extLst>
          </p:cNvPr>
          <p:cNvSpPr txBox="1"/>
          <p:nvPr/>
        </p:nvSpPr>
        <p:spPr>
          <a:xfrm>
            <a:off x="669036" y="1992268"/>
            <a:ext cx="10542345" cy="3170099"/>
          </a:xfrm>
          <a:prstGeom prst="rect">
            <a:avLst/>
          </a:prstGeom>
          <a:noFill/>
        </p:spPr>
        <p:txBody>
          <a:bodyPr wrap="square">
            <a:spAutoFit/>
          </a:bodyPr>
          <a:lstStyle/>
          <a:p>
            <a:pPr marL="0" marR="0" algn="just">
              <a:spcBef>
                <a:spcPts val="25"/>
              </a:spcBef>
              <a:spcAft>
                <a:spcPts val="0"/>
              </a:spcAft>
            </a:pPr>
            <a:r>
              <a:rPr lang="en-US" sz="2000" dirty="0">
                <a:effectLst/>
                <a:latin typeface="Times New Roman" panose="02020603050405020304" pitchFamily="18" charset="0"/>
                <a:ea typeface="Times New Roman" panose="02020603050405020304" pitchFamily="18" charset="0"/>
              </a:rPr>
              <a:t>Abstrac</a:t>
            </a:r>
            <a:r>
              <a:rPr lang="en-US" sz="2000" dirty="0">
                <a:latin typeface="Times New Roman" panose="02020603050405020304" pitchFamily="18" charset="0"/>
                <a:ea typeface="Times New Roman" panose="02020603050405020304" pitchFamily="18" charset="0"/>
              </a:rPr>
              <a:t>t</a:t>
            </a:r>
            <a:r>
              <a:rPr lang="en-US" sz="2000" dirty="0">
                <a:effectLst/>
                <a:latin typeface="Times New Roman" panose="02020603050405020304" pitchFamily="18" charset="0"/>
                <a:ea typeface="Times New Roman" panose="02020603050405020304" pitchFamily="18" charset="0"/>
              </a:rPr>
              <a:t> introduces a novel approach to address the challenge of detecting unanticipated incidents in challenging surveillance conditions, such as low-light environments and degraded image quality. By leveraging deep learning, specifically the YOLO algorithm, the system effectively analyzes CCTV footage. Through preprocessing and training on annotated datasets, the YOLO model learns to detect incidents like accidents and suspicious activities in real-time. The system generates alerts upon detection, enabling swift responses. Transfer learning ensures adaptability across diverse environments. This solution enhances safety surveillance by automating incident detection in difficult conditions, bolstering security measures.</a:t>
            </a:r>
            <a:endParaRPr lang="en-US" sz="2000" dirty="0"/>
          </a:p>
          <a:p>
            <a:pPr algn="just"/>
            <a:endParaRPr lang="en-US" sz="2000" dirty="0"/>
          </a:p>
          <a:p>
            <a:pPr algn="just"/>
            <a:endParaRPr lang="en-US" sz="2000" dirty="0"/>
          </a:p>
        </p:txBody>
      </p:sp>
    </p:spTree>
    <p:extLst>
      <p:ext uri="{BB962C8B-B14F-4D97-AF65-F5344CB8AC3E}">
        <p14:creationId xmlns:p14="http://schemas.microsoft.com/office/powerpoint/2010/main" val="1565703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INTRODUCTION</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dirty="0"/>
          </a:p>
        </p:txBody>
      </p:sp>
      <p:sp>
        <p:nvSpPr>
          <p:cNvPr id="8" name="CustomShape 7">
            <a:extLst>
              <a:ext uri="{FF2B5EF4-FFF2-40B4-BE49-F238E27FC236}">
                <a16:creationId xmlns:a16="http://schemas.microsoft.com/office/drawing/2014/main" id="{4AD08273-B4FB-43B7-BAA1-BA2124D68B91}"/>
              </a:ext>
            </a:extLst>
          </p:cNvPr>
          <p:cNvSpPr/>
          <p:nvPr/>
        </p:nvSpPr>
        <p:spPr>
          <a:xfrm>
            <a:off x="0" y="6257704"/>
            <a:ext cx="12188952" cy="609653"/>
          </a:xfrm>
          <a:prstGeom prst="rect">
            <a:avLst/>
          </a:prstGeom>
          <a:solidFill>
            <a:srgbClr val="00B050"/>
          </a:solidFill>
          <a:ln w="9360">
            <a:solidFill>
              <a:srgbClr val="98B855"/>
            </a:solidFill>
            <a:round/>
          </a:ln>
        </p:spPr>
        <p:txBody>
          <a:bodyPr lIns="90000" tIns="45000" rIns="90000" bIns="45000" anchor="ctr"/>
          <a:lstStyle/>
          <a:p>
            <a:pPr algn="ctr">
              <a:lnSpc>
                <a:spcPct val="100000"/>
              </a:lnSpc>
            </a:pPr>
            <a:r>
              <a:rPr lang="en-US" b="1" kern="0">
                <a:latin typeface="Times New Roman" panose="02020603050405020304" pitchFamily="18" charset="0"/>
                <a:ea typeface="Times New Roman" panose="02020603050405020304" pitchFamily="18" charset="0"/>
              </a:rPr>
              <a:t>Innovative Solutions for Robust Safety Survrillance: Deep Learning for Automated Detection of Unanticipated Incidents in Poor CCTV Environments</a:t>
            </a:r>
            <a:endParaRPr lang="en-US" dirty="0">
              <a:solidFill>
                <a:schemeClr val="bg1"/>
              </a:solidFill>
            </a:endParaRPr>
          </a:p>
        </p:txBody>
      </p:sp>
      <p:sp>
        <p:nvSpPr>
          <p:cNvPr id="5" name="TextBox 4">
            <a:extLst>
              <a:ext uri="{FF2B5EF4-FFF2-40B4-BE49-F238E27FC236}">
                <a16:creationId xmlns:a16="http://schemas.microsoft.com/office/drawing/2014/main" id="{B42C986B-83D3-0150-130E-77E4D59539EA}"/>
              </a:ext>
            </a:extLst>
          </p:cNvPr>
          <p:cNvSpPr txBox="1"/>
          <p:nvPr/>
        </p:nvSpPr>
        <p:spPr>
          <a:xfrm>
            <a:off x="980619" y="2125245"/>
            <a:ext cx="10542345" cy="2774093"/>
          </a:xfrm>
          <a:prstGeom prst="rect">
            <a:avLst/>
          </a:prstGeom>
          <a:noFill/>
        </p:spPr>
        <p:txBody>
          <a:bodyPr wrap="square">
            <a:spAutoFit/>
          </a:bodyPr>
          <a:lstStyle/>
          <a:p>
            <a:pPr marL="63500" marR="0" indent="-63500" algn="just">
              <a:spcBef>
                <a:spcPts val="5"/>
              </a:spcBef>
              <a:spcAft>
                <a:spcPts val="0"/>
              </a:spcAft>
              <a:tabLst>
                <a:tab pos="219075" algn="l"/>
              </a:tabLst>
            </a:pPr>
            <a:r>
              <a:rPr lang="en-US" b="0" kern="0" dirty="0">
                <a:effectLst/>
                <a:latin typeface="Times New Roman" panose="02020603050405020304" pitchFamily="18" charset="0"/>
                <a:ea typeface="Times New Roman" panose="02020603050405020304" pitchFamily="18" charset="0"/>
                <a:cs typeface="Times New Roman" panose="02020603050405020304" pitchFamily="18" charset="0"/>
              </a:rPr>
              <a:t>                 Object discovery technology is crucial for identifying objects in images or videos, with wide-ranging applications from security systems to cancer detection and autonomous vehicles. Sensitivity in object detection, especially in scenarios with occlusion, is vital.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It</a:t>
            </a:r>
            <a:r>
              <a:rPr lang="en-US" b="0" kern="0" dirty="0">
                <a:effectLst/>
                <a:latin typeface="Times New Roman" panose="02020603050405020304" pitchFamily="18" charset="0"/>
                <a:ea typeface="Times New Roman" panose="02020603050405020304" pitchFamily="18" charset="0"/>
                <a:cs typeface="Times New Roman" panose="02020603050405020304" pitchFamily="18" charset="0"/>
              </a:rPr>
              <a:t> use of automatic object discovery in analyzing business conditions, tracking vehicles, and enhancing security measures. It highlights its significance in autonomous vehicles, where algorithms detect vehicle objects and determine their centroid. A system using deep learning combined with Support Vector Machine (SVM) for vehicle tracking using satellite images, showing superior performance compared to traditional approaches. It proposes an Object Discovery and Tracking System (ODTS) incorporating the YOLO algorithm to enhance performance and sensitivity in object tracking across various applications, including business analytics and public safety. </a:t>
            </a:r>
            <a:endParaRPr lang="en-US" b="1"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3500" marR="0" indent="-63500" algn="just">
              <a:lnSpc>
                <a:spcPts val="1375"/>
              </a:lnSpc>
              <a:spcBef>
                <a:spcPts val="5"/>
              </a:spcBef>
              <a:spcAft>
                <a:spcPts val="0"/>
              </a:spcAft>
              <a:tabLst>
                <a:tab pos="219075" algn="l"/>
              </a:tabLst>
            </a:pPr>
            <a:r>
              <a:rPr lang="en-US" b="0" kern="0" dirty="0">
                <a:effectLst/>
                <a:latin typeface="Times New Roman" panose="02020603050405020304" pitchFamily="18" charset="0"/>
                <a:ea typeface="Times New Roman" panose="02020603050405020304" pitchFamily="18" charset="0"/>
              </a:rPr>
              <a:t> </a:t>
            </a:r>
            <a:endParaRPr lang="en-US"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48938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294148"/>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EXISTING SYSTEM</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4A605F57-E56E-478B-A879-5A044FCB7BF4}"/>
              </a:ext>
            </a:extLst>
          </p:cNvPr>
          <p:cNvSpPr/>
          <p:nvPr/>
        </p:nvSpPr>
        <p:spPr>
          <a:xfrm>
            <a:off x="0" y="6231339"/>
            <a:ext cx="12192000" cy="860384"/>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a:p>
            <a:pPr algn="ctr">
              <a:lnSpc>
                <a:spcPct val="100000"/>
              </a:lnSpc>
            </a:pPr>
            <a:endParaRPr lang="en-US" sz="2400" dirty="0">
              <a:solidFill>
                <a:schemeClr val="bg1"/>
              </a:solidFill>
            </a:endParaRPr>
          </a:p>
        </p:txBody>
      </p:sp>
      <p:sp>
        <p:nvSpPr>
          <p:cNvPr id="15" name="Rectangle 14">
            <a:extLst>
              <a:ext uri="{FF2B5EF4-FFF2-40B4-BE49-F238E27FC236}">
                <a16:creationId xmlns:a16="http://schemas.microsoft.com/office/drawing/2014/main" id="{401EBC51-037B-4424-865A-0D4E4D434AD9}"/>
              </a:ext>
            </a:extLst>
          </p:cNvPr>
          <p:cNvSpPr/>
          <p:nvPr/>
        </p:nvSpPr>
        <p:spPr>
          <a:xfrm>
            <a:off x="183930" y="4378955"/>
            <a:ext cx="11517184" cy="47497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5" name="TextBox 4">
            <a:extLst>
              <a:ext uri="{FF2B5EF4-FFF2-40B4-BE49-F238E27FC236}">
                <a16:creationId xmlns:a16="http://schemas.microsoft.com/office/drawing/2014/main" id="{BF5568DF-2C85-F751-BA70-2F80143E9874}"/>
              </a:ext>
            </a:extLst>
          </p:cNvPr>
          <p:cNvSpPr txBox="1"/>
          <p:nvPr/>
        </p:nvSpPr>
        <p:spPr>
          <a:xfrm>
            <a:off x="642914" y="2054303"/>
            <a:ext cx="10684764" cy="4555093"/>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0D0D0D"/>
                </a:solidFill>
                <a:effectLst/>
                <a:latin typeface="Times New Roman" panose="02020603050405020304" pitchFamily="18" charset="0"/>
                <a:cs typeface="Times New Roman" panose="02020603050405020304" pitchFamily="18" charset="0"/>
              </a:rPr>
              <a:t>Improving safety surveillance in challenging conditions, such as poor CCTV environments, requires a multi-faceted approach. While traditional techniques like background subtraction and object tracking have been foundational, they struggle in adverse conditions. Deep learning, particularly CNNs, offers robust solutions for object detection and classification. Transfer learning adapts pre-trained models to limited labeled data, augmented by ensemble methods for enhanced accuracy. Anomaly detection supplements object detection, focusing on irregular behavior. Real-time processing ensures timely threat responses, emphasizing efficient algorithms and hardware acceleration. Integration of these methodologies strengthens safety surveillance, enhancing public safety and security.</a:t>
            </a:r>
          </a:p>
          <a:p>
            <a:pPr marL="342900" indent="-342900" algn="just">
              <a:buFont typeface="Arial" panose="020B0604020202020204" pitchFamily="34" charset="0"/>
              <a:buChar char="•"/>
            </a:pPr>
            <a:endParaRPr lang="en-US" sz="2000" b="0" i="0" dirty="0">
              <a:solidFill>
                <a:srgbClr val="0D0D0D"/>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b="0" i="0" dirty="0">
              <a:solidFill>
                <a:srgbClr val="0D0D0D"/>
              </a:solidFill>
              <a:effectLst/>
              <a:latin typeface="Söhne"/>
            </a:endParaRPr>
          </a:p>
          <a:p>
            <a:pPr marL="342900" indent="-342900" algn="just">
              <a:buFont typeface="Arial" panose="020B0604020202020204" pitchFamily="34" charset="0"/>
              <a:buChar char="•"/>
            </a:pPr>
            <a:endParaRPr lang="en-US" b="0" i="0" dirty="0">
              <a:solidFill>
                <a:srgbClr val="0D0D0D"/>
              </a:solidFill>
              <a:effectLst/>
              <a:latin typeface="Söhne"/>
            </a:endParaRPr>
          </a:p>
          <a:p>
            <a:pPr marL="342900" indent="-342900" algn="just">
              <a:buFont typeface="Arial" panose="020B0604020202020204" pitchFamily="34" charset="0"/>
              <a:buChar char="•"/>
            </a:pPr>
            <a:endParaRPr lang="en-US" b="0" i="0" dirty="0">
              <a:solidFill>
                <a:srgbClr val="0D0D0D"/>
              </a:solidFill>
              <a:effectLst/>
              <a:latin typeface="Söhne"/>
            </a:endParaRPr>
          </a:p>
          <a:p>
            <a:pPr marL="342900" indent="-342900" algn="just">
              <a:buFont typeface="Arial" panose="020B0604020202020204" pitchFamily="34" charset="0"/>
              <a:buChar char="•"/>
            </a:pPr>
            <a:endParaRPr lang="en-US" b="0" i="0" dirty="0">
              <a:solidFill>
                <a:srgbClr val="0D0D0D"/>
              </a:solidFill>
              <a:effectLst/>
              <a:latin typeface="Söhne"/>
            </a:endParaRPr>
          </a:p>
          <a:p>
            <a:pPr marL="342900" indent="-342900" algn="just">
              <a:buFont typeface="Arial" panose="020B0604020202020204" pitchFamily="34" charset="0"/>
              <a:buChar char="•"/>
            </a:pPr>
            <a:endParaRPr lang="en-US" b="0" i="0" dirty="0">
              <a:solidFill>
                <a:srgbClr val="0D0D0D"/>
              </a:solidFill>
              <a:effectLst/>
              <a:latin typeface="Söhne"/>
            </a:endParaRPr>
          </a:p>
        </p:txBody>
      </p:sp>
    </p:spTree>
    <p:extLst>
      <p:ext uri="{BB962C8B-B14F-4D97-AF65-F5344CB8AC3E}">
        <p14:creationId xmlns:p14="http://schemas.microsoft.com/office/powerpoint/2010/main" val="2762037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51810"/>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LIMITATIONS OF EXISTING SYSTEM :</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stomShape 7">
            <a:extLst>
              <a:ext uri="{FF2B5EF4-FFF2-40B4-BE49-F238E27FC236}">
                <a16:creationId xmlns:a16="http://schemas.microsoft.com/office/drawing/2014/main" id="{F568019E-B645-4D66-AE0C-B7BDADB3CDA0}"/>
              </a:ext>
            </a:extLst>
          </p:cNvPr>
          <p:cNvSpPr/>
          <p:nvPr/>
        </p:nvSpPr>
        <p:spPr>
          <a:xfrm>
            <a:off x="0" y="6226050"/>
            <a:ext cx="12188952" cy="621790"/>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
        <p:nvSpPr>
          <p:cNvPr id="5" name="TextBox 4">
            <a:extLst>
              <a:ext uri="{FF2B5EF4-FFF2-40B4-BE49-F238E27FC236}">
                <a16:creationId xmlns:a16="http://schemas.microsoft.com/office/drawing/2014/main" id="{15672BB8-74B9-614B-474F-1BD4BBF08D6B}"/>
              </a:ext>
            </a:extLst>
          </p:cNvPr>
          <p:cNvSpPr txBox="1"/>
          <p:nvPr/>
        </p:nvSpPr>
        <p:spPr>
          <a:xfrm>
            <a:off x="1018828" y="2079900"/>
            <a:ext cx="9659332" cy="1015663"/>
          </a:xfrm>
          <a:prstGeom prst="rect">
            <a:avLst/>
          </a:prstGeom>
          <a:noFill/>
        </p:spPr>
        <p:txBody>
          <a:bodyPr wrap="square">
            <a:spAutoFit/>
          </a:bodyPr>
          <a:lstStyle/>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Sensitivity to Environmental Factors </a:t>
            </a:r>
          </a:p>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Limited Generalization</a:t>
            </a:r>
          </a:p>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High False Alarm Rates</a:t>
            </a:r>
          </a:p>
        </p:txBody>
      </p:sp>
    </p:spTree>
    <p:extLst>
      <p:ext uri="{BB962C8B-B14F-4D97-AF65-F5344CB8AC3E}">
        <p14:creationId xmlns:p14="http://schemas.microsoft.com/office/powerpoint/2010/main" val="114798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PROPOSED</a:t>
            </a:r>
            <a:r>
              <a:rPr lang="en-US" sz="3600" dirty="0">
                <a:latin typeface="Arial Black"/>
              </a:rPr>
              <a:t> </a:t>
            </a:r>
            <a:r>
              <a:rPr lang="en-US" sz="3600" b="1" dirty="0">
                <a:latin typeface="Times New Roman" panose="02020603050405020304" pitchFamily="18" charset="0"/>
                <a:cs typeface="Times New Roman" panose="02020603050405020304" pitchFamily="18" charset="0"/>
              </a:rPr>
              <a:t>SYSTEM</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D7E9F56B-15F5-4C2C-8EAE-E8A6A21F8AB9}"/>
              </a:ext>
            </a:extLst>
          </p:cNvPr>
          <p:cNvSpPr/>
          <p:nvPr/>
        </p:nvSpPr>
        <p:spPr>
          <a:xfrm>
            <a:off x="0" y="6288987"/>
            <a:ext cx="12113642"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
        <p:nvSpPr>
          <p:cNvPr id="6" name="TextBox 5">
            <a:extLst>
              <a:ext uri="{FF2B5EF4-FFF2-40B4-BE49-F238E27FC236}">
                <a16:creationId xmlns:a16="http://schemas.microsoft.com/office/drawing/2014/main" id="{F388E5F6-3FD8-7E8C-678D-16FFBA3C77C2}"/>
              </a:ext>
            </a:extLst>
          </p:cNvPr>
          <p:cNvSpPr txBox="1"/>
          <p:nvPr/>
        </p:nvSpPr>
        <p:spPr>
          <a:xfrm>
            <a:off x="740156" y="2105632"/>
            <a:ext cx="10853928" cy="1938992"/>
          </a:xfrm>
          <a:prstGeom prst="rect">
            <a:avLst/>
          </a:prstGeom>
          <a:noFill/>
        </p:spPr>
        <p:txBody>
          <a:bodyPr wrap="square">
            <a:spAutoFit/>
          </a:bodyPr>
          <a:lstStyle/>
          <a:p>
            <a:pPr marL="285750" indent="-285750" algn="just">
              <a:buFont typeface="Arial" panose="020B0604020202020204" pitchFamily="34" charset="0"/>
              <a:buChar char="•"/>
            </a:pPr>
            <a:r>
              <a:rPr lang="en-US" sz="2000" b="0" i="0" dirty="0">
                <a:solidFill>
                  <a:srgbClr val="0D0D0D"/>
                </a:solidFill>
                <a:effectLst/>
                <a:latin typeface="Times New Roman" panose="02020603050405020304" pitchFamily="18" charset="0"/>
                <a:cs typeface="Times New Roman" panose="02020603050405020304" pitchFamily="18" charset="0"/>
              </a:rPr>
              <a:t>The proposed system integrates advanced technologies like multi-sensor fusion, deep learning models tailored for surveillance, real-time anomaly detection, privacy-preserving techniques, adversarial robustness measures, edge computing, and human-in-the-loop integration. This comprehensive approach enhances safety surveillance effectiveness in challenging conditions, addressing limitations of poor CCTV environments while upholding individual privacy rights and adaptability to evolving threats.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540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dirty="0">
                <a:latin typeface="Arial Black"/>
              </a:rPr>
              <a:t>BLOCK DIAGRAM</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stomShape 7">
            <a:extLst>
              <a:ext uri="{FF2B5EF4-FFF2-40B4-BE49-F238E27FC236}">
                <a16:creationId xmlns:a16="http://schemas.microsoft.com/office/drawing/2014/main" id="{06129E2A-852A-4560-8F66-AB29DCBB9263}"/>
              </a:ext>
            </a:extLst>
          </p:cNvPr>
          <p:cNvSpPr/>
          <p:nvPr/>
        </p:nvSpPr>
        <p:spPr>
          <a:xfrm>
            <a:off x="1" y="6156688"/>
            <a:ext cx="12188952" cy="687084"/>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pic>
        <p:nvPicPr>
          <p:cNvPr id="4" name="Picture 3">
            <a:extLst>
              <a:ext uri="{FF2B5EF4-FFF2-40B4-BE49-F238E27FC236}">
                <a16:creationId xmlns:a16="http://schemas.microsoft.com/office/drawing/2014/main" id="{137032DF-A94E-844C-FC67-0848F31FF286}"/>
              </a:ext>
            </a:extLst>
          </p:cNvPr>
          <p:cNvPicPr>
            <a:picLocks noChangeAspect="1"/>
          </p:cNvPicPr>
          <p:nvPr/>
        </p:nvPicPr>
        <p:blipFill>
          <a:blip r:embed="rId2"/>
          <a:stretch>
            <a:fillRect/>
          </a:stretch>
        </p:blipFill>
        <p:spPr>
          <a:xfrm>
            <a:off x="4608576" y="1929797"/>
            <a:ext cx="2971800" cy="3629025"/>
          </a:xfrm>
          <a:prstGeom prst="rect">
            <a:avLst/>
          </a:prstGeom>
        </p:spPr>
      </p:pic>
    </p:spTree>
    <p:extLst>
      <p:ext uri="{BB962C8B-B14F-4D97-AF65-F5344CB8AC3E}">
        <p14:creationId xmlns:p14="http://schemas.microsoft.com/office/powerpoint/2010/main" val="2131434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MODULES</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D7E9F56B-15F5-4C2C-8EAE-E8A6A21F8AB9}"/>
              </a:ext>
            </a:extLst>
          </p:cNvPr>
          <p:cNvSpPr/>
          <p:nvPr/>
        </p:nvSpPr>
        <p:spPr>
          <a:xfrm>
            <a:off x="1046480" y="6299147"/>
            <a:ext cx="11067162"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
        <p:nvSpPr>
          <p:cNvPr id="5" name="TextBox 4">
            <a:extLst>
              <a:ext uri="{FF2B5EF4-FFF2-40B4-BE49-F238E27FC236}">
                <a16:creationId xmlns:a16="http://schemas.microsoft.com/office/drawing/2014/main" id="{5C2514E6-5761-E1E3-60B2-FEA6DACFDC35}"/>
              </a:ext>
            </a:extLst>
          </p:cNvPr>
          <p:cNvSpPr txBox="1"/>
          <p:nvPr/>
        </p:nvSpPr>
        <p:spPr>
          <a:xfrm>
            <a:off x="802640" y="1924411"/>
            <a:ext cx="10083800" cy="1323439"/>
          </a:xfrm>
          <a:prstGeom prst="rect">
            <a:avLst/>
          </a:prstGeom>
          <a:noFill/>
        </p:spPr>
        <p:txBody>
          <a:bodyPr wrap="square">
            <a:spAutoFit/>
          </a:bodyPr>
          <a:lstStyle/>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Data Acquisition Module</a:t>
            </a:r>
          </a:p>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Multi-Sensor Fusion Module</a:t>
            </a:r>
          </a:p>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Deep Learning Model Module</a:t>
            </a:r>
          </a:p>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Real-Time Anomaly Detection Module</a:t>
            </a:r>
          </a:p>
        </p:txBody>
      </p:sp>
    </p:spTree>
    <p:extLst>
      <p:ext uri="{BB962C8B-B14F-4D97-AF65-F5344CB8AC3E}">
        <p14:creationId xmlns:p14="http://schemas.microsoft.com/office/powerpoint/2010/main" val="4020252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ADVANTAGES</a:t>
            </a:r>
            <a:endParaRPr lang="en-US" sz="3600" b="1" dirty="0">
              <a:latin typeface="Arial Black"/>
            </a:endParaRP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stomShape 7">
            <a:extLst>
              <a:ext uri="{FF2B5EF4-FFF2-40B4-BE49-F238E27FC236}">
                <a16:creationId xmlns:a16="http://schemas.microsoft.com/office/drawing/2014/main" id="{06129E2A-852A-4560-8F66-AB29DCBB9263}"/>
              </a:ext>
            </a:extLst>
          </p:cNvPr>
          <p:cNvSpPr/>
          <p:nvPr/>
        </p:nvSpPr>
        <p:spPr>
          <a:xfrm>
            <a:off x="0" y="6188048"/>
            <a:ext cx="12046995"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
        <p:nvSpPr>
          <p:cNvPr id="4" name="TextBox 3">
            <a:extLst>
              <a:ext uri="{FF2B5EF4-FFF2-40B4-BE49-F238E27FC236}">
                <a16:creationId xmlns:a16="http://schemas.microsoft.com/office/drawing/2014/main" id="{B559D68E-23AC-5D7B-F20A-40D1803832F4}"/>
              </a:ext>
            </a:extLst>
          </p:cNvPr>
          <p:cNvSpPr txBox="1"/>
          <p:nvPr/>
        </p:nvSpPr>
        <p:spPr>
          <a:xfrm>
            <a:off x="1385316" y="2301381"/>
            <a:ext cx="9601200" cy="1200329"/>
          </a:xfrm>
          <a:prstGeom prst="rect">
            <a:avLst/>
          </a:prstGeom>
          <a:noFill/>
        </p:spPr>
        <p:txBody>
          <a:bodyPr wrap="square" rtlCol="0">
            <a:spAutoFit/>
          </a:bodyPr>
          <a:lstStyle/>
          <a:p>
            <a:pPr algn="just">
              <a:buFont typeface="+mj-lt"/>
              <a:buAutoNum type="arabicPeriod"/>
            </a:pPr>
            <a:r>
              <a:rPr lang="en-US" sz="2400" i="0" dirty="0">
                <a:solidFill>
                  <a:srgbClr val="0D0D0D"/>
                </a:solidFill>
                <a:effectLst/>
                <a:latin typeface="Times New Roman" panose="02020603050405020304" pitchFamily="18" charset="0"/>
                <a:cs typeface="Times New Roman" panose="02020603050405020304" pitchFamily="18" charset="0"/>
              </a:rPr>
              <a:t>Improved Detection Accuracy</a:t>
            </a:r>
          </a:p>
          <a:p>
            <a:pPr algn="just">
              <a:buFont typeface="+mj-lt"/>
              <a:buAutoNum type="arabicPeriod"/>
            </a:pPr>
            <a:r>
              <a:rPr lang="en-US" sz="2400" i="0" dirty="0">
                <a:solidFill>
                  <a:srgbClr val="0D0D0D"/>
                </a:solidFill>
                <a:effectLst/>
                <a:latin typeface="Times New Roman" panose="02020603050405020304" pitchFamily="18" charset="0"/>
                <a:cs typeface="Times New Roman" panose="02020603050405020304" pitchFamily="18" charset="0"/>
              </a:rPr>
              <a:t>Enhanced Robustness</a:t>
            </a:r>
          </a:p>
          <a:p>
            <a:pPr algn="just">
              <a:buFont typeface="+mj-lt"/>
              <a:buAutoNum type="arabicPeriod"/>
            </a:pPr>
            <a:r>
              <a:rPr lang="en-US" sz="2400" i="0" dirty="0">
                <a:solidFill>
                  <a:srgbClr val="0D0D0D"/>
                </a:solidFill>
                <a:effectLst/>
                <a:latin typeface="Times New Roman" panose="02020603050405020304" pitchFamily="18" charset="0"/>
                <a:cs typeface="Times New Roman" panose="02020603050405020304" pitchFamily="18" charset="0"/>
              </a:rPr>
              <a:t>Real-Time Response</a:t>
            </a:r>
          </a:p>
        </p:txBody>
      </p:sp>
    </p:spTree>
    <p:extLst>
      <p:ext uri="{BB962C8B-B14F-4D97-AF65-F5344CB8AC3E}">
        <p14:creationId xmlns:p14="http://schemas.microsoft.com/office/powerpoint/2010/main" val="4191188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dirty="0">
                <a:latin typeface="Arial Black"/>
              </a:rPr>
              <a:t>RESULT</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D7E9F56B-15F5-4C2C-8EAE-E8A6A21F8AB9}"/>
              </a:ext>
            </a:extLst>
          </p:cNvPr>
          <p:cNvSpPr/>
          <p:nvPr/>
        </p:nvSpPr>
        <p:spPr>
          <a:xfrm>
            <a:off x="-75310" y="6288987"/>
            <a:ext cx="12188952"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pic>
        <p:nvPicPr>
          <p:cNvPr id="5" name="Picture 4">
            <a:extLst>
              <a:ext uri="{FF2B5EF4-FFF2-40B4-BE49-F238E27FC236}">
                <a16:creationId xmlns:a16="http://schemas.microsoft.com/office/drawing/2014/main" id="{B90AAC68-831F-CC07-C3CE-C8F2E1F18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85" y="1795376"/>
            <a:ext cx="5371262" cy="3691397"/>
          </a:xfrm>
          <a:prstGeom prst="rect">
            <a:avLst/>
          </a:prstGeom>
        </p:spPr>
      </p:pic>
      <p:sp>
        <p:nvSpPr>
          <p:cNvPr id="6" name="Arrow: Right 5">
            <a:extLst>
              <a:ext uri="{FF2B5EF4-FFF2-40B4-BE49-F238E27FC236}">
                <a16:creationId xmlns:a16="http://schemas.microsoft.com/office/drawing/2014/main" id="{8EBB91EB-54BE-F930-8E9A-014E8911A4D1}"/>
              </a:ext>
            </a:extLst>
          </p:cNvPr>
          <p:cNvSpPr/>
          <p:nvPr/>
        </p:nvSpPr>
        <p:spPr>
          <a:xfrm>
            <a:off x="5828580" y="3317332"/>
            <a:ext cx="830425" cy="353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2A0E98FB-7D1D-B2AB-563E-1A67F65EE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5895" y="1803304"/>
            <a:ext cx="5536105" cy="3618155"/>
          </a:xfrm>
          <a:prstGeom prst="rect">
            <a:avLst/>
          </a:prstGeom>
        </p:spPr>
      </p:pic>
    </p:spTree>
    <p:extLst>
      <p:ext uri="{BB962C8B-B14F-4D97-AF65-F5344CB8AC3E}">
        <p14:creationId xmlns:p14="http://schemas.microsoft.com/office/powerpoint/2010/main" val="1160111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dirty="0">
                <a:latin typeface="Arial Black"/>
              </a:rPr>
              <a:t>RESULT</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D7E9F56B-15F5-4C2C-8EAE-E8A6A21F8AB9}"/>
              </a:ext>
            </a:extLst>
          </p:cNvPr>
          <p:cNvSpPr/>
          <p:nvPr/>
        </p:nvSpPr>
        <p:spPr>
          <a:xfrm>
            <a:off x="0" y="6075681"/>
            <a:ext cx="12113642" cy="822960"/>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pic>
        <p:nvPicPr>
          <p:cNvPr id="9" name="Picture 8">
            <a:extLst>
              <a:ext uri="{FF2B5EF4-FFF2-40B4-BE49-F238E27FC236}">
                <a16:creationId xmlns:a16="http://schemas.microsoft.com/office/drawing/2014/main" id="{3E738B3D-E63D-351F-C04C-86BE30A706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5496"/>
            <a:ext cx="5534022" cy="3804990"/>
          </a:xfrm>
          <a:prstGeom prst="rect">
            <a:avLst/>
          </a:prstGeom>
        </p:spPr>
      </p:pic>
      <p:pic>
        <p:nvPicPr>
          <p:cNvPr id="12" name="Picture 11">
            <a:extLst>
              <a:ext uri="{FF2B5EF4-FFF2-40B4-BE49-F238E27FC236}">
                <a16:creationId xmlns:a16="http://schemas.microsoft.com/office/drawing/2014/main" id="{4415AAEC-040B-51F8-516D-E0DB7EAF2CCF}"/>
              </a:ext>
            </a:extLst>
          </p:cNvPr>
          <p:cNvPicPr>
            <a:picLocks noChangeAspect="1"/>
          </p:cNvPicPr>
          <p:nvPr/>
        </p:nvPicPr>
        <p:blipFill>
          <a:blip r:embed="rId3"/>
          <a:stretch>
            <a:fillRect/>
          </a:stretch>
        </p:blipFill>
        <p:spPr>
          <a:xfrm>
            <a:off x="6284176" y="1888744"/>
            <a:ext cx="5731510" cy="3634978"/>
          </a:xfrm>
          <a:prstGeom prst="rect">
            <a:avLst/>
          </a:prstGeom>
        </p:spPr>
      </p:pic>
      <p:sp>
        <p:nvSpPr>
          <p:cNvPr id="13" name="Arrow: Right 12">
            <a:extLst>
              <a:ext uri="{FF2B5EF4-FFF2-40B4-BE49-F238E27FC236}">
                <a16:creationId xmlns:a16="http://schemas.microsoft.com/office/drawing/2014/main" id="{593E65FC-4A10-01D4-D17F-1F884B5BEC56}"/>
              </a:ext>
            </a:extLst>
          </p:cNvPr>
          <p:cNvSpPr/>
          <p:nvPr/>
        </p:nvSpPr>
        <p:spPr>
          <a:xfrm>
            <a:off x="5663682" y="3429000"/>
            <a:ext cx="550506" cy="3032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87042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dirty="0">
                <a:latin typeface="Arial Black"/>
              </a:rPr>
              <a:t>RESULT</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D7E9F56B-15F5-4C2C-8EAE-E8A6A21F8AB9}"/>
              </a:ext>
            </a:extLst>
          </p:cNvPr>
          <p:cNvSpPr/>
          <p:nvPr/>
        </p:nvSpPr>
        <p:spPr>
          <a:xfrm>
            <a:off x="0" y="6245077"/>
            <a:ext cx="12188952"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pic>
        <p:nvPicPr>
          <p:cNvPr id="5" name="Picture 4">
            <a:extLst>
              <a:ext uri="{FF2B5EF4-FFF2-40B4-BE49-F238E27FC236}">
                <a16:creationId xmlns:a16="http://schemas.microsoft.com/office/drawing/2014/main" id="{89DBF7AF-9A74-58D1-560B-2226E3B73F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692" y="1849173"/>
            <a:ext cx="5566296" cy="3276591"/>
          </a:xfrm>
          <a:prstGeom prst="rect">
            <a:avLst/>
          </a:prstGeom>
        </p:spPr>
      </p:pic>
      <p:pic>
        <p:nvPicPr>
          <p:cNvPr id="9" name="Picture 8">
            <a:extLst>
              <a:ext uri="{FF2B5EF4-FFF2-40B4-BE49-F238E27FC236}">
                <a16:creationId xmlns:a16="http://schemas.microsoft.com/office/drawing/2014/main" id="{A95F5B5A-2FFC-B36E-6587-4FCA840701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2056" y="1803789"/>
            <a:ext cx="5339251" cy="3376838"/>
          </a:xfrm>
          <a:prstGeom prst="rect">
            <a:avLst/>
          </a:prstGeom>
        </p:spPr>
      </p:pic>
      <p:sp>
        <p:nvSpPr>
          <p:cNvPr id="10" name="Arrow: Right 9">
            <a:extLst>
              <a:ext uri="{FF2B5EF4-FFF2-40B4-BE49-F238E27FC236}">
                <a16:creationId xmlns:a16="http://schemas.microsoft.com/office/drawing/2014/main" id="{FB775463-1CB8-AF11-D70C-BDD44A42DA04}"/>
              </a:ext>
            </a:extLst>
          </p:cNvPr>
          <p:cNvSpPr/>
          <p:nvPr/>
        </p:nvSpPr>
        <p:spPr>
          <a:xfrm>
            <a:off x="5915608" y="3256384"/>
            <a:ext cx="597159" cy="3172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82371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CONCLUSION</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D7E9F56B-15F5-4C2C-8EAE-E8A6A21F8AB9}"/>
              </a:ext>
            </a:extLst>
          </p:cNvPr>
          <p:cNvSpPr/>
          <p:nvPr/>
        </p:nvSpPr>
        <p:spPr>
          <a:xfrm>
            <a:off x="0" y="6248347"/>
            <a:ext cx="12151297"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
        <p:nvSpPr>
          <p:cNvPr id="5" name="TextBox 4">
            <a:extLst>
              <a:ext uri="{FF2B5EF4-FFF2-40B4-BE49-F238E27FC236}">
                <a16:creationId xmlns:a16="http://schemas.microsoft.com/office/drawing/2014/main" id="{063F20AF-61B9-3E06-C07E-02713F508F6F}"/>
              </a:ext>
            </a:extLst>
          </p:cNvPr>
          <p:cNvSpPr txBox="1"/>
          <p:nvPr/>
        </p:nvSpPr>
        <p:spPr>
          <a:xfrm>
            <a:off x="960120" y="1924411"/>
            <a:ext cx="10048240" cy="3693319"/>
          </a:xfrm>
          <a:prstGeom prst="rect">
            <a:avLst/>
          </a:prstGeom>
          <a:noFill/>
        </p:spPr>
        <p:txBody>
          <a:bodyPr wrap="square">
            <a:spAutoFit/>
          </a:bodyPr>
          <a:lstStyle/>
          <a:p>
            <a:pPr marL="63500" marR="74295" algn="just">
              <a:spcBef>
                <a:spcPts val="0"/>
              </a:spcBef>
              <a:spcAft>
                <a:spcPts val="0"/>
              </a:spcAft>
            </a:pPr>
            <a:r>
              <a:rPr lang="en-IN" sz="1800" dirty="0">
                <a:effectLst/>
                <a:latin typeface="Times New Roman" panose="02020603050405020304" pitchFamily="18" charset="0"/>
                <a:ea typeface="Times New Roman" panose="02020603050405020304" pitchFamily="18" charset="0"/>
              </a:rPr>
              <a:t>In conclusion, the proposed system for automatic detection of unexpected accidents under poor CCTV monitoring conditions in tunnels presents a comprehensive and robust solution to enhance safety and security in transportation infrastructure. By leveraging advanced deep learning algorithms and sophisticated data processing techniques, the system addresses the challenges posed by adverse monitoring conditions, such as low lighting and adverse weather, to effectively identify potential accidents or hazardous situations in real time.</a:t>
            </a:r>
            <a:endParaRPr lang="en-US" sz="1800" dirty="0">
              <a:effectLst/>
              <a:latin typeface="Times New Roman" panose="02020603050405020304" pitchFamily="18" charset="0"/>
              <a:ea typeface="Times New Roman" panose="02020603050405020304" pitchFamily="18" charset="0"/>
            </a:endParaRPr>
          </a:p>
          <a:p>
            <a:pPr marL="63500" marR="74295" algn="just">
              <a:spcBef>
                <a:spcPts val="0"/>
              </a:spcBef>
              <a:spcAft>
                <a:spcPts val="0"/>
              </a:spcAft>
            </a:pPr>
            <a:r>
              <a:rPr lang="en-IN" sz="1800"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63500" marR="74295" algn="just">
              <a:spcBef>
                <a:spcPts val="0"/>
              </a:spcBef>
              <a:spcAft>
                <a:spcPts val="0"/>
              </a:spcAft>
            </a:pPr>
            <a:r>
              <a:rPr lang="en-IN" sz="1800" dirty="0">
                <a:effectLst/>
                <a:latin typeface="Times New Roman" panose="02020603050405020304" pitchFamily="18" charset="0"/>
                <a:ea typeface="Times New Roman" panose="02020603050405020304" pitchFamily="18" charset="0"/>
              </a:rPr>
              <a:t>Through the integration of modules for data acquisition, </a:t>
            </a:r>
            <a:r>
              <a:rPr lang="en-IN" sz="1800" dirty="0" err="1">
                <a:effectLst/>
                <a:latin typeface="Times New Roman" panose="02020603050405020304" pitchFamily="18" charset="0"/>
                <a:ea typeface="Times New Roman" panose="02020603050405020304" pitchFamily="18" charset="0"/>
              </a:rPr>
              <a:t>preprocessing</a:t>
            </a:r>
            <a:r>
              <a:rPr lang="en-IN" sz="1800" dirty="0">
                <a:effectLst/>
                <a:latin typeface="Times New Roman" panose="02020603050405020304" pitchFamily="18" charset="0"/>
                <a:ea typeface="Times New Roman" panose="02020603050405020304" pitchFamily="18" charset="0"/>
              </a:rPr>
              <a:t>, feature extraction, anomaly detection, real-time processing, alerting/notification, integration, user interface, logging/reporting, and maintenance/update, the system offers a seamless and holistic approach to tunnel monitoring. It ensures timely detection of anomalies, automated alerting of relevant stakeholders, and efficient integration with existing tunnel surveillance infrastructure.</a:t>
            </a:r>
            <a:endParaRPr lang="en-US" sz="1800" dirty="0">
              <a:effectLst/>
              <a:latin typeface="Times New Roman" panose="02020603050405020304" pitchFamily="18" charset="0"/>
              <a:ea typeface="Times New Roman" panose="02020603050405020304" pitchFamily="18" charset="0"/>
            </a:endParaRPr>
          </a:p>
          <a:p>
            <a:pPr marL="63500" marR="74295" algn="just">
              <a:spcBef>
                <a:spcPts val="0"/>
              </a:spcBef>
              <a:spcAft>
                <a:spcPts val="0"/>
              </a:spcAft>
            </a:pPr>
            <a:r>
              <a:rPr lang="en-IN" sz="1800"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7878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1554C-F4E9-ECB5-18C1-2BD131FD7E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lgn="ctr"/>
            <a:r>
              <a:rPr lang="en-US" sz="3600" b="1" dirty="0">
                <a:latin typeface="Times New Roman" panose="02020603050405020304" pitchFamily="18" charset="0"/>
                <a:cs typeface="Times New Roman" panose="02020603050405020304" pitchFamily="18" charset="0"/>
              </a:rPr>
              <a:t>FUTURE</a:t>
            </a:r>
            <a:r>
              <a:rPr lang="en-US" sz="3600" b="1" dirty="0">
                <a:latin typeface="Arial Black"/>
              </a:rPr>
              <a:t> </a:t>
            </a:r>
            <a:r>
              <a:rPr lang="en-US" sz="3600" b="1" dirty="0">
                <a:latin typeface="Times New Roman" panose="02020603050405020304" pitchFamily="18" charset="0"/>
                <a:cs typeface="Times New Roman" panose="02020603050405020304" pitchFamily="18" charset="0"/>
              </a:rPr>
              <a:t>ENHANCEMENT</a:t>
            </a:r>
          </a:p>
        </p:txBody>
      </p:sp>
      <p:sp>
        <p:nvSpPr>
          <p:cNvPr id="3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2A0FF-AC64-8B83-9FD4-96669FA11715}"/>
              </a:ext>
            </a:extLst>
          </p:cNvPr>
          <p:cNvSpPr txBox="1"/>
          <p:nvPr/>
        </p:nvSpPr>
        <p:spPr>
          <a:xfrm>
            <a:off x="838200" y="1929384"/>
            <a:ext cx="10515600" cy="425196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dirty="0">
              <a:cs typeface="Calibri"/>
            </a:endParaRPr>
          </a:p>
        </p:txBody>
      </p:sp>
      <p:sp>
        <p:nvSpPr>
          <p:cNvPr id="8" name="CustomShape 7">
            <a:extLst>
              <a:ext uri="{FF2B5EF4-FFF2-40B4-BE49-F238E27FC236}">
                <a16:creationId xmlns:a16="http://schemas.microsoft.com/office/drawing/2014/main" id="{D7E9F56B-15F5-4C2C-8EAE-E8A6A21F8AB9}"/>
              </a:ext>
            </a:extLst>
          </p:cNvPr>
          <p:cNvSpPr/>
          <p:nvPr/>
        </p:nvSpPr>
        <p:spPr>
          <a:xfrm>
            <a:off x="0" y="6248347"/>
            <a:ext cx="12192000"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
        <p:nvSpPr>
          <p:cNvPr id="5" name="TextBox 4">
            <a:extLst>
              <a:ext uri="{FF2B5EF4-FFF2-40B4-BE49-F238E27FC236}">
                <a16:creationId xmlns:a16="http://schemas.microsoft.com/office/drawing/2014/main" id="{063F20AF-61B9-3E06-C07E-02713F508F6F}"/>
              </a:ext>
            </a:extLst>
          </p:cNvPr>
          <p:cNvSpPr txBox="1"/>
          <p:nvPr/>
        </p:nvSpPr>
        <p:spPr>
          <a:xfrm>
            <a:off x="1137920" y="2015173"/>
            <a:ext cx="10048240" cy="1292662"/>
          </a:xfrm>
          <a:prstGeom prst="rect">
            <a:avLst/>
          </a:prstGeom>
          <a:noFill/>
        </p:spPr>
        <p:txBody>
          <a:bodyPr wrap="square">
            <a:spAutoFit/>
          </a:bodyPr>
          <a:lstStyle/>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Integration of AI Explainability</a:t>
            </a:r>
          </a:p>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Advanced Sensor Technologies</a:t>
            </a:r>
          </a:p>
          <a:p>
            <a:pPr algn="just">
              <a:buFont typeface="+mj-lt"/>
              <a:buAutoNum type="arabicPeriod"/>
            </a:pPr>
            <a:r>
              <a:rPr lang="en-US" sz="2000" i="0" dirty="0">
                <a:solidFill>
                  <a:srgbClr val="0D0D0D"/>
                </a:solidFill>
                <a:effectLst/>
                <a:latin typeface="Times New Roman" panose="02020603050405020304" pitchFamily="18" charset="0"/>
                <a:cs typeface="Times New Roman" panose="02020603050405020304" pitchFamily="18" charset="0"/>
              </a:rPr>
              <a:t>Autonomous Response Mechanisms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3295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13E89D4-9ED2-40A1-8E48-FAE70D6741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713" y="1168924"/>
            <a:ext cx="8306489" cy="4224240"/>
          </a:xfrm>
          <a:prstGeom prst="rect">
            <a:avLst/>
          </a:prstGeom>
          <a:noFill/>
          <a:extLst>
            <a:ext uri="{909E8E84-426E-40DD-AFC4-6F175D3DCCD1}">
              <a14:hiddenFill xmlns:a14="http://schemas.microsoft.com/office/drawing/2010/main">
                <a:solidFill>
                  <a:srgbClr val="FFFFFF"/>
                </a:solidFill>
              </a14:hiddenFill>
            </a:ext>
          </a:extLst>
        </p:spPr>
      </p:pic>
      <p:sp>
        <p:nvSpPr>
          <p:cNvPr id="5" name="CustomShape 7">
            <a:extLst>
              <a:ext uri="{FF2B5EF4-FFF2-40B4-BE49-F238E27FC236}">
                <a16:creationId xmlns:a16="http://schemas.microsoft.com/office/drawing/2014/main" id="{DB4B455A-D90E-4E74-8C2C-4AB6DF955136}"/>
              </a:ext>
            </a:extLst>
          </p:cNvPr>
          <p:cNvSpPr/>
          <p:nvPr/>
        </p:nvSpPr>
        <p:spPr>
          <a:xfrm>
            <a:off x="0" y="6248347"/>
            <a:ext cx="12192000" cy="609653"/>
          </a:xfrm>
          <a:prstGeom prst="rect">
            <a:avLst/>
          </a:prstGeom>
          <a:solidFill>
            <a:srgbClr val="00B050"/>
          </a:solidFill>
          <a:ln w="9360">
            <a:solidFill>
              <a:srgbClr val="98B855"/>
            </a:solidFill>
            <a:round/>
          </a:ln>
        </p:spPr>
        <p:txBody>
          <a:bodyPr lIns="90000" tIns="45000" rIns="90000" bIns="45000" anchor="ctr"/>
          <a:lstStyle/>
          <a:p>
            <a:pPr algn="ctr"/>
            <a:r>
              <a:rPr lang="en-US" b="1" kern="0" dirty="0">
                <a:effectLst/>
                <a:latin typeface="Times New Roman" panose="02020603050405020304" pitchFamily="18" charset="0"/>
                <a:ea typeface="Times New Roman" panose="02020603050405020304" pitchFamily="18" charset="0"/>
              </a:rPr>
              <a:t>Innovative Solutions for Robust Safety </a:t>
            </a:r>
            <a:r>
              <a:rPr lang="en-US" b="1" kern="0" dirty="0" err="1">
                <a:effectLst/>
                <a:latin typeface="Times New Roman" panose="02020603050405020304" pitchFamily="18" charset="0"/>
                <a:ea typeface="Times New Roman" panose="02020603050405020304" pitchFamily="18" charset="0"/>
              </a:rPr>
              <a:t>Survrillance</a:t>
            </a:r>
            <a:r>
              <a:rPr lang="en-US" b="1" kern="0" dirty="0">
                <a:effectLst/>
                <a:latin typeface="Times New Roman" panose="02020603050405020304" pitchFamily="18" charset="0"/>
                <a:ea typeface="Times New Roman" panose="02020603050405020304" pitchFamily="18" charset="0"/>
              </a:rPr>
              <a:t>: Deep Learning for Automated Detection of Unanticipated Incidents in Poor CCTV Environments</a:t>
            </a:r>
            <a:endParaRPr lang="en-US" dirty="0">
              <a:solidFill>
                <a:schemeClr val="bg1"/>
              </a:solidFill>
            </a:endParaRPr>
          </a:p>
        </p:txBody>
      </p:sp>
    </p:spTree>
    <p:extLst>
      <p:ext uri="{BB962C8B-B14F-4D97-AF65-F5344CB8AC3E}">
        <p14:creationId xmlns:p14="http://schemas.microsoft.com/office/powerpoint/2010/main" val="3361962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95F123D2D9CD42A42C39C31C8BBD45" ma:contentTypeVersion="4" ma:contentTypeDescription="Create a new document." ma:contentTypeScope="" ma:versionID="c4dcd648f43d873fdf774cc70801dc03">
  <xsd:schema xmlns:xsd="http://www.w3.org/2001/XMLSchema" xmlns:xs="http://www.w3.org/2001/XMLSchema" xmlns:p="http://schemas.microsoft.com/office/2006/metadata/properties" xmlns:ns2="429ca80b-5247-4dde-83b9-9f3dd7a34231" targetNamespace="http://schemas.microsoft.com/office/2006/metadata/properties" ma:root="true" ma:fieldsID="31217ddacf05a80748258f33367c381b" ns2:_="">
    <xsd:import namespace="429ca80b-5247-4dde-83b9-9f3dd7a3423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9ca80b-5247-4dde-83b9-9f3dd7a34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AA666D-E2F7-49D3-8AB8-F3692C7A02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9ca80b-5247-4dde-83b9-9f3dd7a342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003ED3-1F51-4AF3-8965-18B61457215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647BF61-B4B3-47C2-A848-D7FBD4AE92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1079</TotalTime>
  <Words>955</Words>
  <Application>Microsoft Office PowerPoint</Application>
  <PresentationFormat>Widescreen</PresentationFormat>
  <Paragraphs>73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Black</vt:lpstr>
      <vt:lpstr>Calibri</vt:lpstr>
      <vt:lpstr>Calibri Light</vt:lpstr>
      <vt:lpstr>Söhne</vt:lpstr>
      <vt:lpstr>Times New Roman</vt:lpstr>
      <vt:lpstr>office theme</vt:lpstr>
      <vt:lpstr>“Innovative Solutions for Robust Safety Survrillance: Deep Learning for Automated Detection of Unanticipated Incidents in Poor CCTV Environments"</vt:lpstr>
      <vt:lpstr>OUTLINE</vt:lpstr>
      <vt:lpstr>ABSTRACT</vt:lpstr>
      <vt:lpstr>INTRODUCTION</vt:lpstr>
      <vt:lpstr>EXISTING SYSTEM</vt:lpstr>
      <vt:lpstr>LIMITATIONS OF EXISTING SYSTEM :</vt:lpstr>
      <vt:lpstr>PROPOSED SYSTEM</vt:lpstr>
      <vt:lpstr>BLOCK DIAGRAM</vt:lpstr>
      <vt:lpstr>MODULES</vt:lpstr>
      <vt:lpstr>ADVANTAGES</vt:lpstr>
      <vt:lpstr>RESULT</vt:lpstr>
      <vt:lpstr>RESULT</vt:lpstr>
      <vt:lpstr>RESULT</vt:lpstr>
      <vt:lpstr>CONCLUSION</vt:lpstr>
      <vt:lpstr>FUTURE ENHANCEMENT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shaistha mehreen</dc:creator>
  <cp:lastModifiedBy>Yerukalagari Hema Chandra</cp:lastModifiedBy>
  <cp:revision>322</cp:revision>
  <dcterms:created xsi:type="dcterms:W3CDTF">2022-04-17T16:28:19Z</dcterms:created>
  <dcterms:modified xsi:type="dcterms:W3CDTF">2025-07-15T11:44:22Z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0x0101004295F123D2D9CD42A42C39C31C8BBD45</vt:lpwstr>
  </property>
</Properties>
</file>